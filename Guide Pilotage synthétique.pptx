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70" r:id="rId2"/>
    <p:sldId id="367" r:id="rId3"/>
    <p:sldId id="383" r:id="rId4"/>
    <p:sldId id="374" r:id="rId5"/>
    <p:sldId id="372" r:id="rId6"/>
  </p:sldIdLst>
  <p:sldSz cx="9144000" cy="5143500" type="screen16x9"/>
  <p:notesSz cx="6735763" cy="986948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654A"/>
    <a:srgbClr val="990000"/>
    <a:srgbClr val="CC440E"/>
    <a:srgbClr val="309A9A"/>
    <a:srgbClr val="0000CC"/>
    <a:srgbClr val="5BC0C0"/>
    <a:srgbClr val="E43132"/>
    <a:srgbClr val="FA6F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1" autoAdjust="0"/>
    <p:restoredTop sz="89306" autoAdjust="0"/>
  </p:normalViewPr>
  <p:slideViewPr>
    <p:cSldViewPr>
      <p:cViewPr>
        <p:scale>
          <a:sx n="106" d="100"/>
          <a:sy n="106" d="100"/>
        </p:scale>
        <p:origin x="-1320" y="-9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1D15D-1C26-4EEB-82A8-E9A3A5A1F2A9}" type="datetimeFigureOut">
              <a:rPr lang="fr-FR" smtClean="0"/>
              <a:t>12/04/2017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983E8-91E4-4BD6-9D36-89919FD3A4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758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713EF-99C9-4699-BB2F-D84E0253A2B2}" type="datetimeFigureOut">
              <a:rPr lang="fr-FR" smtClean="0"/>
              <a:pPr/>
              <a:t>12/04/2017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788" y="739775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8007"/>
            <a:ext cx="5388610" cy="44412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0B56A-614A-4786-A4DC-D8B6268B2D2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52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8748" y="1538934"/>
            <a:ext cx="7772400" cy="1102519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00654A"/>
                </a:solidFill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309A9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1576" y="4299943"/>
            <a:ext cx="1259632" cy="8319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" y="4743565"/>
            <a:ext cx="1475657" cy="276458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fr-FR" sz="1000" kern="1200" smtClean="0">
                <a:solidFill>
                  <a:srgbClr val="E4313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fr-FR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1575" y="0"/>
            <a:ext cx="9120850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7" y="51470"/>
            <a:ext cx="1729637" cy="11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28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23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2206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0"/>
            <a:ext cx="8640960" cy="498333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1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1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99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4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4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55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0"/>
            <a:ext cx="8640960" cy="498333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97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28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2" y="204789"/>
            <a:ext cx="5111749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96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87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0"/>
            <a:ext cx="8640960" cy="498333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92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399" y="154781"/>
            <a:ext cx="2057401" cy="3290888"/>
          </a:xfrm>
          <a:prstGeom prst="rect">
            <a:avLst/>
          </a:prstGeo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1" cy="329088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20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1520" y="843559"/>
            <a:ext cx="864096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010400" y="4852911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E43132"/>
                </a:solidFill>
              </a:defRPr>
            </a:lvl1pPr>
          </a:lstStyle>
          <a:p>
            <a:fld id="{B8DE8C8A-575A-4786-8EA5-E2C7C5BDE2A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7" y="4769060"/>
            <a:ext cx="576064" cy="324641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4755181"/>
            <a:ext cx="504055" cy="3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7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SzPct val="150000"/>
        <a:buFont typeface="Arial" panose="020B0604020202020204" pitchFamily="34" charset="0"/>
        <a:buChar char="•"/>
        <a:defRPr sz="1800" kern="1200">
          <a:solidFill>
            <a:srgbClr val="00654A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600" kern="1200">
          <a:solidFill>
            <a:srgbClr val="309A9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9552" y="1325215"/>
            <a:ext cx="7772400" cy="1102519"/>
          </a:xfrm>
        </p:spPr>
        <p:txBody>
          <a:bodyPr>
            <a:normAutofit/>
          </a:bodyPr>
          <a:lstStyle/>
          <a:p>
            <a:r>
              <a:rPr lang="fr-FR" sz="4400" dirty="0" smtClean="0">
                <a:solidFill>
                  <a:schemeClr val="tx1"/>
                </a:solidFill>
              </a:rPr>
              <a:t>Pilotage Synthétique</a:t>
            </a:r>
            <a:endParaRPr lang="fr-FR" sz="4400" dirty="0">
              <a:solidFill>
                <a:schemeClr val="tx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3363838"/>
            <a:ext cx="8568952" cy="1314450"/>
          </a:xfrm>
        </p:spPr>
        <p:txBody>
          <a:bodyPr>
            <a:normAutofit/>
          </a:bodyPr>
          <a:lstStyle/>
          <a:p>
            <a:r>
              <a:rPr lang="fr-FR" sz="2800" i="1" dirty="0" smtClean="0">
                <a:solidFill>
                  <a:schemeClr val="tx1"/>
                </a:solidFill>
              </a:rPr>
              <a:t>MDC- Stratégie et Pilotage de la Relation Client</a:t>
            </a:r>
            <a:endParaRPr lang="fr-FR" sz="28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1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/>
          <p:cNvSpPr/>
          <p:nvPr/>
        </p:nvSpPr>
        <p:spPr>
          <a:xfrm>
            <a:off x="1589635" y="627534"/>
            <a:ext cx="720080" cy="7200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35496" y="21853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1">
                    <a:lumMod val="50000"/>
                  </a:schemeClr>
                </a:solidFill>
              </a:rPr>
              <a:t>Périmètre et catégorisation des MDC</a:t>
            </a:r>
            <a:endParaRPr lang="fr-F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970371" y="2962965"/>
            <a:ext cx="329978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000" b="1" dirty="0" smtClean="0"/>
              <a:t>Les Priorités du moments</a:t>
            </a:r>
            <a:r>
              <a:rPr lang="fr-FR" sz="1000" dirty="0" smtClean="0"/>
              <a:t>: Evénements et actions du moment à  traiter à 100%</a:t>
            </a:r>
            <a:endParaRPr lang="fr-FR" sz="1000" dirty="0" smtClean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000" b="1" dirty="0" smtClean="0"/>
              <a:t>Les essentiels</a:t>
            </a:r>
            <a:r>
              <a:rPr lang="fr-FR" sz="1000" dirty="0" smtClean="0"/>
              <a:t>: Evénements et actions à fort potentiel à traiter au plus pr</a:t>
            </a:r>
            <a:r>
              <a:rPr lang="fr-FR" sz="1000" dirty="0" smtClean="0"/>
              <a:t>êt de 100%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000" b="1" dirty="0" smtClean="0"/>
              <a:t>Les</a:t>
            </a:r>
            <a:r>
              <a:rPr lang="fr-FR" sz="1000" dirty="0" smtClean="0"/>
              <a:t> </a:t>
            </a:r>
            <a:r>
              <a:rPr lang="fr-FR" sz="1000" b="1" dirty="0" smtClean="0"/>
              <a:t>compléments</a:t>
            </a:r>
            <a:r>
              <a:rPr lang="fr-FR" sz="1000" dirty="0" smtClean="0"/>
              <a:t> : La plupart des actions à relayer par le réseau avec un taux de traitement en fonction des priorités de l’agence</a:t>
            </a:r>
            <a:endParaRPr lang="fr-FR" sz="1000" dirty="0" smtClean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000" b="1" dirty="0" smtClean="0"/>
              <a:t>Les événements projet</a:t>
            </a:r>
            <a:r>
              <a:rPr lang="fr-FR" sz="1000" dirty="0" smtClean="0"/>
              <a:t>: actions et événements embarqué dans un projet</a:t>
            </a:r>
            <a:endParaRPr lang="fr-FR" sz="10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165699" y="727735"/>
            <a:ext cx="1872208" cy="5040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2525739" y="80290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Périmètre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X097430\Downloads\People-128 (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499" y="648952"/>
            <a:ext cx="765997" cy="76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2123728" y="1347614"/>
            <a:ext cx="42484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Les motifs de contacts agence: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 smtClean="0"/>
              <a:t>période d’un </a:t>
            </a:r>
            <a:r>
              <a:rPr lang="fr-FR" sz="1000" dirty="0"/>
              <a:t>mois</a:t>
            </a:r>
            <a:r>
              <a:rPr lang="fr-FR" sz="1100" dirty="0" smtClean="0"/>
              <a:t> (mois précédent) et cumul sur une année glissante</a:t>
            </a:r>
          </a:p>
        </p:txBody>
      </p:sp>
      <p:sp>
        <p:nvSpPr>
          <p:cNvPr id="13" name="Ellipse 12"/>
          <p:cNvSpPr/>
          <p:nvPr/>
        </p:nvSpPr>
        <p:spPr>
          <a:xfrm>
            <a:off x="2118864" y="2242885"/>
            <a:ext cx="720080" cy="7200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2694927" y="2343086"/>
            <a:ext cx="3071171" cy="5040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3054967" y="2418259"/>
            <a:ext cx="249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Les catégories de MDC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6" name="Picture 2" descr="C:\Users\X097430\Downloads\People-128 (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264303"/>
            <a:ext cx="765997" cy="76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33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51470"/>
            <a:ext cx="8316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1">
                    <a:lumMod val="50000"/>
                  </a:schemeClr>
                </a:solidFill>
              </a:rPr>
              <a:t>Les règles de gestion</a:t>
            </a:r>
            <a:endParaRPr lang="fr-F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95536" y="771550"/>
            <a:ext cx="6624736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fr-FR"/>
            </a:defPPr>
            <a:lvl1pPr marL="171450" indent="-171450">
              <a:buFont typeface="Wingdings" panose="05000000000000000000" pitchFamily="2" charset="2"/>
              <a:buChar char="q"/>
              <a:defRPr b="1"/>
            </a:lvl1pPr>
          </a:lstStyle>
          <a:p>
            <a:r>
              <a:rPr lang="fr-FR" dirty="0"/>
              <a:t>Périodicité : </a:t>
            </a:r>
            <a:r>
              <a:rPr lang="fr-FR" b="0" dirty="0" err="1"/>
              <a:t>Reporting</a:t>
            </a:r>
            <a:r>
              <a:rPr lang="fr-FR" b="0" dirty="0"/>
              <a:t> mis à jour à la fin de chaque mois avec motifs de contacts injectés sur le mois précédent et un cumul en année glissante</a:t>
            </a:r>
          </a:p>
          <a:p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611560" y="2139702"/>
            <a:ext cx="721383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b="1" dirty="0"/>
              <a:t>Les essentiels</a:t>
            </a:r>
            <a:r>
              <a:rPr lang="fr-FR" dirty="0"/>
              <a:t>: Evénements et actions à fort potentiel à traiter au plus prêt de 100%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b="1" dirty="0"/>
              <a:t>Les</a:t>
            </a:r>
            <a:r>
              <a:rPr lang="fr-FR" dirty="0"/>
              <a:t> </a:t>
            </a:r>
            <a:r>
              <a:rPr lang="fr-FR" b="1" dirty="0"/>
              <a:t>compléments</a:t>
            </a:r>
            <a:r>
              <a:rPr lang="fr-FR" dirty="0"/>
              <a:t> : La plupart des actions à relayer par le réseau avec un taux de traitement en fonction des priorités de l’agence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b="1" dirty="0"/>
              <a:t>Les événements projet</a:t>
            </a:r>
            <a:r>
              <a:rPr lang="fr-FR" dirty="0"/>
              <a:t>: actions et événements embarqué dans un projet</a:t>
            </a:r>
          </a:p>
        </p:txBody>
      </p:sp>
    </p:spTree>
    <p:extLst>
      <p:ext uri="{BB962C8B-B14F-4D97-AF65-F5344CB8AC3E}">
        <p14:creationId xmlns:p14="http://schemas.microsoft.com/office/powerpoint/2010/main" val="263050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35496" y="21853"/>
            <a:ext cx="6768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1">
                    <a:lumMod val="50000"/>
                  </a:schemeClr>
                </a:solidFill>
              </a:rPr>
              <a:t>Volumétrie</a:t>
            </a:r>
            <a:endParaRPr lang="fr-F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79512" y="1191979"/>
            <a:ext cx="84969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/>
              <a:t>179.762</a:t>
            </a:r>
            <a:r>
              <a:rPr lang="fr-FR" sz="2800" dirty="0" smtClean="0"/>
              <a:t> clients quasi Banque Principale </a:t>
            </a:r>
          </a:p>
          <a:p>
            <a:pPr algn="ctr"/>
            <a:endParaRPr lang="fr-FR" sz="2800" dirty="0"/>
          </a:p>
          <a:p>
            <a:pPr algn="ctr"/>
            <a:r>
              <a:rPr lang="fr-FR" sz="2800" b="1" dirty="0" smtClean="0"/>
              <a:t>65 %</a:t>
            </a:r>
            <a:r>
              <a:rPr lang="fr-FR" sz="2800" dirty="0" smtClean="0"/>
              <a:t> dont le critère manquant est l’assurance</a:t>
            </a:r>
          </a:p>
          <a:p>
            <a:pPr algn="ctr"/>
            <a:endParaRPr lang="fr-FR" sz="2800" dirty="0" smtClean="0"/>
          </a:p>
          <a:p>
            <a:pPr algn="ctr"/>
            <a:r>
              <a:rPr lang="fr-FR" sz="2800" b="1" dirty="0" smtClean="0"/>
              <a:t>26% </a:t>
            </a:r>
            <a:r>
              <a:rPr lang="fr-FR" sz="2800" dirty="0" smtClean="0"/>
              <a:t>dont le critère manquant est la domiciliation</a:t>
            </a:r>
          </a:p>
          <a:p>
            <a:pPr algn="ctr"/>
            <a:endParaRPr lang="fr-FR" sz="2800" dirty="0" smtClean="0"/>
          </a:p>
          <a:p>
            <a:pPr algn="ctr"/>
            <a:r>
              <a:rPr lang="fr-FR" sz="2800" b="1" dirty="0" smtClean="0"/>
              <a:t>9%</a:t>
            </a:r>
            <a:r>
              <a:rPr lang="fr-FR" sz="2800" dirty="0" smtClean="0"/>
              <a:t> dont le critère manquant est l’équipement bancaire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53095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8C8A-575A-4786-8EA5-E2C7C5BDE2A8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-36512" y="165869"/>
            <a:ext cx="9036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/>
              <a:t>Stratégie pour atteindre l’objectif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-36512" y="771550"/>
            <a:ext cx="89289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 smtClean="0">
                <a:solidFill>
                  <a:srgbClr val="00B050"/>
                </a:solidFill>
              </a:rPr>
              <a:t>Utiliser les motifs de contacts récurrents avec le double objectif de traiter ces événements et d’atteindre les ambitions</a:t>
            </a:r>
          </a:p>
        </p:txBody>
      </p:sp>
      <p:sp>
        <p:nvSpPr>
          <p:cNvPr id="2" name="Rectangle à coins arrondis 1"/>
          <p:cNvSpPr/>
          <p:nvPr/>
        </p:nvSpPr>
        <p:spPr>
          <a:xfrm>
            <a:off x="1187624" y="1995686"/>
            <a:ext cx="6768752" cy="23762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5</a:t>
            </a:r>
            <a:r>
              <a:rPr lang="fr-FR" sz="2800" dirty="0" smtClean="0"/>
              <a:t>% des « quasi banque principale » font partie des clients ciblés dans les événements récurrents de février  2017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394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5889</TotalTime>
  <Words>249</Words>
  <Application>Microsoft Office PowerPoint</Application>
  <PresentationFormat>Affichage à l'écran (16:9)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Pilotage Synthétique</vt:lpstr>
      <vt:lpstr>Présentation PowerPoint</vt:lpstr>
      <vt:lpstr>Présentation PowerPoint</vt:lpstr>
      <vt:lpstr>Présentation PowerPoint</vt:lpstr>
      <vt:lpstr>Présentation PowerPoint</vt:lpstr>
    </vt:vector>
  </TitlesOfParts>
  <Company>CA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SAJOUS Dominique</dc:creator>
  <cp:lastModifiedBy>DJIMERA Ismaila (EXT)</cp:lastModifiedBy>
  <cp:revision>506</cp:revision>
  <cp:lastPrinted>2015-11-17T16:25:44Z</cp:lastPrinted>
  <dcterms:created xsi:type="dcterms:W3CDTF">2015-06-16T14:37:38Z</dcterms:created>
  <dcterms:modified xsi:type="dcterms:W3CDTF">2017-04-12T16:44:22Z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